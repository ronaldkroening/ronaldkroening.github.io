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Lexend Light"/>
      <p:regular r:id="rId17"/>
      <p:bold r:id="rId18"/>
    </p:embeddedFont>
    <p:embeddedFont>
      <p:font typeface="Lexend"/>
      <p:regular r:id="rId19"/>
      <p:bold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exend-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LexendLight-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Lexend-regular.fntdata"/><Relationship Id="rId6" Type="http://schemas.openxmlformats.org/officeDocument/2006/relationships/slide" Target="slides/slide1.xml"/><Relationship Id="rId18" Type="http://schemas.openxmlformats.org/officeDocument/2006/relationships/font" Target="fonts/LexendLight-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2559c7fe1e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2559c7fe1e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2559c7fe1e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2559c7fe1e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255a80a8cd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255a80a8cd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255bb5d00a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255bb5d00a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55bb5d00a1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255bb5d00a1_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55bb5d00a1_1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55bb5d00a1_1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55bb5d00a1_1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55bb5d00a1_1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55bb5d00a1_1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255bb5d00a1_1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55bb5d00a1_1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55bb5d00a1_1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55bb5d00a1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255bb5d00a1_1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www.youtube.com/watch?v=8gLdN8WoMak" TargetMode="External"/><Relationship Id="rId4"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11737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latin typeface="Lexend Light"/>
                <a:ea typeface="Lexend Light"/>
                <a:cs typeface="Lexend Light"/>
                <a:sym typeface="Lexend Light"/>
              </a:rPr>
              <a:t>L1</a:t>
            </a:r>
            <a:r>
              <a:rPr lang="en">
                <a:latin typeface="Lexend Light"/>
                <a:ea typeface="Lexend Light"/>
                <a:cs typeface="Lexend Light"/>
                <a:sym typeface="Lexend Light"/>
              </a:rPr>
              <a:t>: Introduction to Artificial Intelligence </a:t>
            </a:r>
            <a:endParaRPr>
              <a:latin typeface="Lexend Light"/>
              <a:ea typeface="Lexend Light"/>
              <a:cs typeface="Lexend Light"/>
              <a:sym typeface="Lexend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exend"/>
                <a:ea typeface="Lexend"/>
                <a:cs typeface="Lexend"/>
                <a:sym typeface="Lexend"/>
              </a:rPr>
              <a:t>About the Author</a:t>
            </a:r>
            <a:endParaRPr>
              <a:latin typeface="Lexend"/>
              <a:ea typeface="Lexend"/>
              <a:cs typeface="Lexend"/>
              <a:sym typeface="Lexend"/>
            </a:endParaRPr>
          </a:p>
        </p:txBody>
      </p:sp>
      <p:sp>
        <p:nvSpPr>
          <p:cNvPr id="60" name="Google Shape;60;p14"/>
          <p:cNvSpPr txBox="1"/>
          <p:nvPr>
            <p:ph idx="1" type="body"/>
          </p:nvPr>
        </p:nvSpPr>
        <p:spPr>
          <a:xfrm>
            <a:off x="311700" y="1152475"/>
            <a:ext cx="8520600" cy="3427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latin typeface="Lexend"/>
                <a:ea typeface="Lexend"/>
                <a:cs typeface="Lexend"/>
                <a:sym typeface="Lexend"/>
              </a:rPr>
              <a:t>Ronald Kroening is an incoming graduate student at Tufts University for a Masters of Science in Computer Science. He recently graduated from Pace University with a B.S. in Computer Science. He has produced two undergraduate research projects on artificial intelligence and was recently employed as a Coding Instructor for Codespeak Labs as well as a Software Engineer and Project Manager at Seidenberg Creative Labs. In addition, he has also been a STEM Mentor at Pace University’s STEM Summer Institute and a Co-Lead Instructor for the BeaverWorks Summer Institute at the Massachusetts Institute of Technology’s Lincoln Laboratory. </a:t>
            </a:r>
            <a:endParaRPr>
              <a:solidFill>
                <a:schemeClr val="dk1"/>
              </a:solidFill>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exend"/>
                <a:ea typeface="Lexend"/>
                <a:cs typeface="Lexend"/>
                <a:sym typeface="Lexend"/>
              </a:rPr>
              <a:t>Overview</a:t>
            </a:r>
            <a:endParaRPr>
              <a:latin typeface="Lexend"/>
              <a:ea typeface="Lexend"/>
              <a:cs typeface="Lexend"/>
              <a:sym typeface="Lexend"/>
            </a:endParaRPr>
          </a:p>
        </p:txBody>
      </p:sp>
      <p:sp>
        <p:nvSpPr>
          <p:cNvPr id="66" name="Google Shape;66;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Lexend"/>
              <a:buAutoNum type="arabicPeriod"/>
            </a:pPr>
            <a:r>
              <a:rPr lang="en">
                <a:solidFill>
                  <a:schemeClr val="dk1"/>
                </a:solidFill>
                <a:latin typeface="Lexend"/>
                <a:ea typeface="Lexend"/>
                <a:cs typeface="Lexend"/>
                <a:sym typeface="Lexend"/>
              </a:rPr>
              <a:t>Defining AI</a:t>
            </a:r>
            <a:endParaRPr>
              <a:solidFill>
                <a:schemeClr val="dk1"/>
              </a:solidFill>
              <a:latin typeface="Lexend"/>
              <a:ea typeface="Lexend"/>
              <a:cs typeface="Lexend"/>
              <a:sym typeface="Lexend"/>
            </a:endParaRPr>
          </a:p>
          <a:p>
            <a:pPr indent="-342900" lvl="0" marL="457200" rtl="0" algn="l">
              <a:spcBef>
                <a:spcPts val="0"/>
              </a:spcBef>
              <a:spcAft>
                <a:spcPts val="0"/>
              </a:spcAft>
              <a:buClr>
                <a:schemeClr val="dk1"/>
              </a:buClr>
              <a:buSzPts val="1800"/>
              <a:buFont typeface="Lexend"/>
              <a:buAutoNum type="arabicPeriod"/>
            </a:pPr>
            <a:r>
              <a:rPr lang="en">
                <a:solidFill>
                  <a:schemeClr val="dk1"/>
                </a:solidFill>
                <a:latin typeface="Lexend"/>
                <a:ea typeface="Lexend"/>
                <a:cs typeface="Lexend"/>
                <a:sym typeface="Lexend"/>
              </a:rPr>
              <a:t>Examples of AI</a:t>
            </a:r>
            <a:endParaRPr>
              <a:solidFill>
                <a:schemeClr val="dk1"/>
              </a:solidFill>
              <a:latin typeface="Lexend"/>
              <a:ea typeface="Lexend"/>
              <a:cs typeface="Lexend"/>
              <a:sym typeface="Lexend"/>
            </a:endParaRPr>
          </a:p>
          <a:p>
            <a:pPr indent="-342900" lvl="0" marL="457200" rtl="0" algn="l">
              <a:spcBef>
                <a:spcPts val="0"/>
              </a:spcBef>
              <a:spcAft>
                <a:spcPts val="0"/>
              </a:spcAft>
              <a:buClr>
                <a:schemeClr val="dk1"/>
              </a:buClr>
              <a:buSzPts val="1800"/>
              <a:buFont typeface="Lexend"/>
              <a:buAutoNum type="arabicPeriod"/>
            </a:pPr>
            <a:r>
              <a:rPr lang="en">
                <a:solidFill>
                  <a:schemeClr val="dk1"/>
                </a:solidFill>
                <a:latin typeface="Lexend"/>
                <a:ea typeface="Lexend"/>
                <a:cs typeface="Lexend"/>
                <a:sym typeface="Lexend"/>
              </a:rPr>
              <a:t>Types of AI</a:t>
            </a:r>
            <a:endParaRPr>
              <a:solidFill>
                <a:schemeClr val="dk1"/>
              </a:solidFill>
              <a:latin typeface="Lexend"/>
              <a:ea typeface="Lexend"/>
              <a:cs typeface="Lexend"/>
              <a:sym typeface="Lexend"/>
            </a:endParaRPr>
          </a:p>
          <a:p>
            <a:pPr indent="-342900" lvl="0" marL="457200" rtl="0" algn="l">
              <a:spcBef>
                <a:spcPts val="0"/>
              </a:spcBef>
              <a:spcAft>
                <a:spcPts val="0"/>
              </a:spcAft>
              <a:buClr>
                <a:schemeClr val="dk1"/>
              </a:buClr>
              <a:buSzPts val="1800"/>
              <a:buFont typeface="Lexend"/>
              <a:buAutoNum type="arabicPeriod"/>
            </a:pPr>
            <a:r>
              <a:rPr lang="en">
                <a:solidFill>
                  <a:schemeClr val="dk1"/>
                </a:solidFill>
                <a:latin typeface="Lexend"/>
                <a:ea typeface="Lexend"/>
                <a:cs typeface="Lexend"/>
                <a:sym typeface="Lexend"/>
              </a:rPr>
              <a:t>Review</a:t>
            </a:r>
            <a:endParaRPr>
              <a:solidFill>
                <a:schemeClr val="dk1"/>
              </a:solidFill>
              <a:latin typeface="Lexend"/>
              <a:ea typeface="Lexend"/>
              <a:cs typeface="Lexend"/>
              <a:sym typeface="Lexend"/>
            </a:endParaRPr>
          </a:p>
          <a:p>
            <a:pPr indent="-342900" lvl="0" marL="457200" rtl="0" algn="l">
              <a:spcBef>
                <a:spcPts val="0"/>
              </a:spcBef>
              <a:spcAft>
                <a:spcPts val="0"/>
              </a:spcAft>
              <a:buClr>
                <a:schemeClr val="dk1"/>
              </a:buClr>
              <a:buSzPts val="1800"/>
              <a:buFont typeface="Lexend"/>
              <a:buAutoNum type="arabicPeriod"/>
            </a:pPr>
            <a:r>
              <a:rPr lang="en">
                <a:solidFill>
                  <a:schemeClr val="dk1"/>
                </a:solidFill>
                <a:latin typeface="Lexend"/>
                <a:ea typeface="Lexend"/>
                <a:cs typeface="Lexend"/>
                <a:sym typeface="Lexend"/>
              </a:rPr>
              <a:t>Next Steps</a:t>
            </a:r>
            <a:endParaRPr>
              <a:solidFill>
                <a:schemeClr val="dk1"/>
              </a:solidFill>
              <a:latin typeface="Lexend"/>
              <a:ea typeface="Lexend"/>
              <a:cs typeface="Lexend"/>
              <a:sym typeface="Lexen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exend"/>
                <a:ea typeface="Lexend"/>
                <a:cs typeface="Lexend"/>
                <a:sym typeface="Lexend"/>
              </a:rPr>
              <a:t>What is AI?</a:t>
            </a:r>
            <a:endParaRPr>
              <a:latin typeface="Lexend"/>
              <a:ea typeface="Lexend"/>
              <a:cs typeface="Lexend"/>
              <a:sym typeface="Lexend"/>
            </a:endParaRPr>
          </a:p>
        </p:txBody>
      </p:sp>
      <p:sp>
        <p:nvSpPr>
          <p:cNvPr id="72" name="Google Shape;72;p16"/>
          <p:cNvSpPr txBox="1"/>
          <p:nvPr>
            <p:ph idx="1" type="body"/>
          </p:nvPr>
        </p:nvSpPr>
        <p:spPr>
          <a:xfrm>
            <a:off x="311700" y="1152475"/>
            <a:ext cx="8520600" cy="3416400"/>
          </a:xfrm>
          <a:prstGeom prst="rect">
            <a:avLst/>
          </a:prstGeom>
          <a:ln>
            <a:noFill/>
          </a:ln>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Lexend"/>
              <a:buChar char="●"/>
            </a:pPr>
            <a:r>
              <a:rPr lang="en">
                <a:solidFill>
                  <a:schemeClr val="dk1"/>
                </a:solidFill>
                <a:latin typeface="Lexend"/>
                <a:ea typeface="Lexend"/>
                <a:cs typeface="Lexend"/>
                <a:sym typeface="Lexend"/>
              </a:rPr>
              <a:t>Artificial Intelligence (AI) is the concept of a computerized system being able to make decisions without the need for human interference.</a:t>
            </a:r>
            <a:endParaRPr>
              <a:solidFill>
                <a:schemeClr val="dk1"/>
              </a:solidFill>
              <a:latin typeface="Lexend"/>
              <a:ea typeface="Lexend"/>
              <a:cs typeface="Lexend"/>
              <a:sym typeface="Lexend"/>
            </a:endParaRPr>
          </a:p>
          <a:p>
            <a:pPr indent="-342900" lvl="0" marL="457200" rtl="0" algn="l">
              <a:spcBef>
                <a:spcPts val="0"/>
              </a:spcBef>
              <a:spcAft>
                <a:spcPts val="0"/>
              </a:spcAft>
              <a:buClr>
                <a:schemeClr val="dk1"/>
              </a:buClr>
              <a:buSzPts val="1800"/>
              <a:buFont typeface="Lexend"/>
              <a:buChar char="●"/>
            </a:pPr>
            <a:r>
              <a:rPr lang="en">
                <a:solidFill>
                  <a:schemeClr val="dk1"/>
                </a:solidFill>
                <a:latin typeface="Lexend"/>
                <a:ea typeface="Lexend"/>
                <a:cs typeface="Lexend"/>
                <a:sym typeface="Lexend"/>
              </a:rPr>
              <a:t>A system uses data from either a dataset or active environment in order to define a function to correctly map inputs to a proper output</a:t>
            </a:r>
            <a:endParaRPr>
              <a:solidFill>
                <a:schemeClr val="dk1"/>
              </a:solidFill>
              <a:latin typeface="Lexend"/>
              <a:ea typeface="Lexend"/>
              <a:cs typeface="Lexend"/>
              <a:sym typeface="Lexend"/>
            </a:endParaRPr>
          </a:p>
          <a:p>
            <a:pPr indent="-342900" lvl="0" marL="457200" rtl="0" algn="l">
              <a:spcBef>
                <a:spcPts val="0"/>
              </a:spcBef>
              <a:spcAft>
                <a:spcPts val="0"/>
              </a:spcAft>
              <a:buClr>
                <a:schemeClr val="dk1"/>
              </a:buClr>
              <a:buSzPts val="1800"/>
              <a:buFont typeface="Lexend"/>
              <a:buChar char="●"/>
            </a:pPr>
            <a:r>
              <a:rPr lang="en">
                <a:solidFill>
                  <a:schemeClr val="dk1"/>
                </a:solidFill>
                <a:latin typeface="Lexend"/>
                <a:ea typeface="Lexend"/>
                <a:cs typeface="Lexend"/>
                <a:sym typeface="Lexend"/>
              </a:rPr>
              <a:t>For example:</a:t>
            </a:r>
            <a:endParaRPr>
              <a:solidFill>
                <a:schemeClr val="dk1"/>
              </a:solidFill>
              <a:latin typeface="Lexend"/>
              <a:ea typeface="Lexend"/>
              <a:cs typeface="Lexend"/>
              <a:sym typeface="Lexend"/>
            </a:endParaRPr>
          </a:p>
          <a:p>
            <a:pPr indent="-317500" lvl="1" marL="914400" rtl="0" algn="l">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A robot takes in data from its environment through sensors in order to decide where to move next</a:t>
            </a:r>
            <a:endParaRPr>
              <a:solidFill>
                <a:schemeClr val="dk1"/>
              </a:solidFill>
              <a:latin typeface="Lexend"/>
              <a:ea typeface="Lexend"/>
              <a:cs typeface="Lexend"/>
              <a:sym typeface="Lexend"/>
            </a:endParaRPr>
          </a:p>
          <a:p>
            <a:pPr indent="-317500" lvl="1" marL="914400" rtl="0" algn="l">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A model is given a dataset of emails to be able to effectively classify which are spam and which are not spam.</a:t>
            </a:r>
            <a:endParaRPr>
              <a:solidFill>
                <a:schemeClr val="dk1"/>
              </a:solidFill>
              <a:latin typeface="Lexend"/>
              <a:ea typeface="Lexend"/>
              <a:cs typeface="Lexend"/>
              <a:sym typeface="Lexe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exend"/>
                <a:ea typeface="Lexend"/>
                <a:cs typeface="Lexend"/>
                <a:sym typeface="Lexend"/>
              </a:rPr>
              <a:t>Common Examples</a:t>
            </a:r>
            <a:endParaRPr>
              <a:latin typeface="Lexend"/>
              <a:ea typeface="Lexend"/>
              <a:cs typeface="Lexend"/>
              <a:sym typeface="Lexend"/>
            </a:endParaRPr>
          </a:p>
        </p:txBody>
      </p:sp>
      <p:sp>
        <p:nvSpPr>
          <p:cNvPr id="78" name="Google Shape;78;p17"/>
          <p:cNvSpPr txBox="1"/>
          <p:nvPr>
            <p:ph idx="1" type="body"/>
          </p:nvPr>
        </p:nvSpPr>
        <p:spPr>
          <a:xfrm>
            <a:off x="311700" y="1152475"/>
            <a:ext cx="8520600" cy="3416400"/>
          </a:xfrm>
          <a:prstGeom prst="rect">
            <a:avLst/>
          </a:prstGeom>
          <a:ln>
            <a:noFill/>
          </a:ln>
        </p:spPr>
        <p:txBody>
          <a:bodyPr anchorCtr="0" anchor="t" bIns="91425" lIns="91425" spcFirstLastPara="1" rIns="91425" wrap="square" tIns="91425">
            <a:normAutofit lnSpcReduction="10000"/>
          </a:bodyPr>
          <a:lstStyle/>
          <a:p>
            <a:pPr indent="-342900" lvl="0" marL="457200" rtl="0" algn="l">
              <a:spcBef>
                <a:spcPts val="0"/>
              </a:spcBef>
              <a:spcAft>
                <a:spcPts val="0"/>
              </a:spcAft>
              <a:buClr>
                <a:schemeClr val="dk1"/>
              </a:buClr>
              <a:buSzPts val="1800"/>
              <a:buFont typeface="Lexend"/>
              <a:buChar char="●"/>
            </a:pPr>
            <a:r>
              <a:rPr lang="en">
                <a:solidFill>
                  <a:schemeClr val="dk1"/>
                </a:solidFill>
                <a:latin typeface="Lexend"/>
                <a:ea typeface="Lexend"/>
                <a:cs typeface="Lexend"/>
                <a:sym typeface="Lexend"/>
              </a:rPr>
              <a:t>Chat-GPT is a powerful example of AI in natural language processing. It utilizes deep learning techniques and large-scale training on diverse text data to generate human-like responses and engage in conversations. </a:t>
            </a:r>
            <a:endParaRPr>
              <a:solidFill>
                <a:schemeClr val="dk1"/>
              </a:solidFill>
              <a:latin typeface="Lexend"/>
              <a:ea typeface="Lexend"/>
              <a:cs typeface="Lexend"/>
              <a:sym typeface="Lexend"/>
            </a:endParaRPr>
          </a:p>
          <a:p>
            <a:pPr indent="-342900" lvl="0" marL="457200" rtl="0" algn="l">
              <a:spcBef>
                <a:spcPts val="0"/>
              </a:spcBef>
              <a:spcAft>
                <a:spcPts val="0"/>
              </a:spcAft>
              <a:buClr>
                <a:schemeClr val="dk1"/>
              </a:buClr>
              <a:buSzPts val="1800"/>
              <a:buFont typeface="Lexend"/>
              <a:buChar char="●"/>
            </a:pPr>
            <a:r>
              <a:rPr lang="en">
                <a:solidFill>
                  <a:schemeClr val="dk1"/>
                </a:solidFill>
                <a:latin typeface="Lexend"/>
                <a:ea typeface="Lexend"/>
                <a:cs typeface="Lexend"/>
                <a:sym typeface="Lexend"/>
              </a:rPr>
              <a:t>DALL-E is an AI model developed by OpenAI that combines the techniques of generative adversarial networks (GANs) and autoencoders. It can generate unique and creative images based on textual descriptions or image prompts. </a:t>
            </a:r>
            <a:endParaRPr>
              <a:solidFill>
                <a:schemeClr val="dk1"/>
              </a:solidFill>
              <a:latin typeface="Lexend"/>
              <a:ea typeface="Lexend"/>
              <a:cs typeface="Lexend"/>
              <a:sym typeface="Lexend"/>
            </a:endParaRPr>
          </a:p>
          <a:p>
            <a:pPr indent="-342900" lvl="0" marL="457200" rtl="0" algn="l">
              <a:spcBef>
                <a:spcPts val="0"/>
              </a:spcBef>
              <a:spcAft>
                <a:spcPts val="0"/>
              </a:spcAft>
              <a:buClr>
                <a:schemeClr val="dk1"/>
              </a:buClr>
              <a:buSzPts val="1800"/>
              <a:buFont typeface="Lexend"/>
              <a:buChar char="●"/>
            </a:pPr>
            <a:r>
              <a:rPr lang="en">
                <a:solidFill>
                  <a:schemeClr val="dk1"/>
                </a:solidFill>
                <a:latin typeface="Lexend"/>
                <a:ea typeface="Lexend"/>
                <a:cs typeface="Lexend"/>
                <a:sym typeface="Lexend"/>
              </a:rPr>
              <a:t>AlphaGo was developed by Google’s DeepMind, utilizing deep neural networks and reinforcement learning to learn the ancient board game Go, eventually being able to defeat world champion Go players.</a:t>
            </a:r>
            <a:endParaRPr>
              <a:solidFill>
                <a:schemeClr val="dk1"/>
              </a:solidFill>
              <a:latin typeface="Lexend"/>
              <a:ea typeface="Lexend"/>
              <a:cs typeface="Lexend"/>
              <a:sym typeface="Lexen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exend"/>
                <a:ea typeface="Lexend"/>
                <a:cs typeface="Lexend"/>
                <a:sym typeface="Lexend"/>
              </a:rPr>
              <a:t>Types of AI</a:t>
            </a:r>
            <a:endParaRPr>
              <a:latin typeface="Lexend"/>
              <a:ea typeface="Lexend"/>
              <a:cs typeface="Lexend"/>
              <a:sym typeface="Lexend"/>
            </a:endParaRPr>
          </a:p>
        </p:txBody>
      </p:sp>
      <p:sp>
        <p:nvSpPr>
          <p:cNvPr id="84" name="Google Shape;84;p18"/>
          <p:cNvSpPr txBox="1"/>
          <p:nvPr>
            <p:ph idx="1" type="body"/>
          </p:nvPr>
        </p:nvSpPr>
        <p:spPr>
          <a:xfrm>
            <a:off x="311700" y="1152475"/>
            <a:ext cx="8520600" cy="3416400"/>
          </a:xfrm>
          <a:prstGeom prst="rect">
            <a:avLst/>
          </a:prstGeom>
          <a:ln>
            <a:noFill/>
          </a:ln>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Lexend"/>
              <a:buChar char="●"/>
            </a:pPr>
            <a:r>
              <a:rPr lang="en">
                <a:solidFill>
                  <a:schemeClr val="dk1"/>
                </a:solidFill>
                <a:latin typeface="Lexend"/>
                <a:ea typeface="Lexend"/>
                <a:cs typeface="Lexend"/>
                <a:sym typeface="Lexend"/>
              </a:rPr>
              <a:t>General AI, also known as Strong AI, is an AI system that is completely capable of operating, thinking and learning on its own without needing to be trained beforehand, perfectly </a:t>
            </a:r>
            <a:r>
              <a:rPr lang="en">
                <a:solidFill>
                  <a:schemeClr val="dk1"/>
                </a:solidFill>
                <a:latin typeface="Lexend"/>
                <a:ea typeface="Lexend"/>
                <a:cs typeface="Lexend"/>
                <a:sym typeface="Lexend"/>
              </a:rPr>
              <a:t>mimicking</a:t>
            </a:r>
            <a:r>
              <a:rPr lang="en">
                <a:solidFill>
                  <a:schemeClr val="dk1"/>
                </a:solidFill>
                <a:latin typeface="Lexend"/>
                <a:ea typeface="Lexend"/>
                <a:cs typeface="Lexend"/>
                <a:sym typeface="Lexend"/>
              </a:rPr>
              <a:t> human intelligence. It is currently a theoretical concept with no known real-world applications.</a:t>
            </a:r>
            <a:endParaRPr>
              <a:solidFill>
                <a:schemeClr val="dk1"/>
              </a:solidFill>
              <a:latin typeface="Lexend"/>
              <a:ea typeface="Lexend"/>
              <a:cs typeface="Lexend"/>
              <a:sym typeface="Lexend"/>
            </a:endParaRPr>
          </a:p>
          <a:p>
            <a:pPr indent="-342900" lvl="0" marL="457200" rtl="0" algn="l">
              <a:spcBef>
                <a:spcPts val="0"/>
              </a:spcBef>
              <a:spcAft>
                <a:spcPts val="0"/>
              </a:spcAft>
              <a:buClr>
                <a:schemeClr val="dk1"/>
              </a:buClr>
              <a:buSzPts val="1800"/>
              <a:buFont typeface="Lexend"/>
              <a:buChar char="●"/>
            </a:pPr>
            <a:r>
              <a:rPr lang="en">
                <a:solidFill>
                  <a:schemeClr val="dk1"/>
                </a:solidFill>
                <a:latin typeface="Lexend"/>
                <a:ea typeface="Lexend"/>
                <a:cs typeface="Lexend"/>
                <a:sym typeface="Lexend"/>
              </a:rPr>
              <a:t>Narrow AI, also known as Weak AI, is an AI system trained on one specific field, such as natural language processing and computer vision. They are still intelligent systems, but what separates them from General AI is the lack of sentience or the ability to think outside of what it has been trained upon.</a:t>
            </a:r>
            <a:endParaRPr>
              <a:solidFill>
                <a:schemeClr val="dk1"/>
              </a:solidFill>
              <a:latin typeface="Lexend"/>
              <a:ea typeface="Lexend"/>
              <a:cs typeface="Lexend"/>
              <a:sym typeface="Lexen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exend"/>
                <a:ea typeface="Lexend"/>
                <a:cs typeface="Lexend"/>
                <a:sym typeface="Lexend"/>
              </a:rPr>
              <a:t>What goes into an AI Model?</a:t>
            </a:r>
            <a:endParaRPr>
              <a:latin typeface="Lexend"/>
              <a:ea typeface="Lexend"/>
              <a:cs typeface="Lexend"/>
              <a:sym typeface="Lexend"/>
            </a:endParaRPr>
          </a:p>
        </p:txBody>
      </p:sp>
      <p:sp>
        <p:nvSpPr>
          <p:cNvPr id="90" name="Google Shape;90;p19"/>
          <p:cNvSpPr txBox="1"/>
          <p:nvPr>
            <p:ph idx="1" type="body"/>
          </p:nvPr>
        </p:nvSpPr>
        <p:spPr>
          <a:xfrm>
            <a:off x="311700" y="1152475"/>
            <a:ext cx="8520600" cy="3416400"/>
          </a:xfrm>
          <a:prstGeom prst="rect">
            <a:avLst/>
          </a:prstGeom>
          <a:ln>
            <a:noFill/>
          </a:ln>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Lexend"/>
              <a:buChar char="●"/>
            </a:pPr>
            <a:r>
              <a:rPr lang="en">
                <a:solidFill>
                  <a:schemeClr val="dk1"/>
                </a:solidFill>
                <a:latin typeface="Lexend"/>
                <a:ea typeface="Lexend"/>
                <a:cs typeface="Lexend"/>
                <a:sym typeface="Lexend"/>
              </a:rPr>
              <a:t>Data analytics is performed to break our data down into a form a model can understand.</a:t>
            </a:r>
            <a:endParaRPr>
              <a:solidFill>
                <a:schemeClr val="dk1"/>
              </a:solidFill>
              <a:latin typeface="Lexend"/>
              <a:ea typeface="Lexend"/>
              <a:cs typeface="Lexend"/>
              <a:sym typeface="Lexend"/>
            </a:endParaRPr>
          </a:p>
          <a:p>
            <a:pPr indent="-342900" lvl="0" marL="457200" rtl="0" algn="l">
              <a:spcBef>
                <a:spcPts val="0"/>
              </a:spcBef>
              <a:spcAft>
                <a:spcPts val="0"/>
              </a:spcAft>
              <a:buClr>
                <a:schemeClr val="dk1"/>
              </a:buClr>
              <a:buSzPts val="1800"/>
              <a:buFont typeface="Lexend"/>
              <a:buChar char="●"/>
            </a:pPr>
            <a:r>
              <a:rPr lang="en">
                <a:solidFill>
                  <a:schemeClr val="dk1"/>
                </a:solidFill>
                <a:latin typeface="Lexend"/>
                <a:ea typeface="Lexend"/>
                <a:cs typeface="Lexend"/>
                <a:sym typeface="Lexend"/>
              </a:rPr>
              <a:t>Our model learns from the data- makes guesses and analyzes its successes and shortcomings in order to design an algorithm that can accurately predict the output for the given dataset</a:t>
            </a:r>
            <a:endParaRPr>
              <a:solidFill>
                <a:schemeClr val="dk1"/>
              </a:solidFill>
              <a:latin typeface="Lexend"/>
              <a:ea typeface="Lexend"/>
              <a:cs typeface="Lexend"/>
              <a:sym typeface="Lexend"/>
            </a:endParaRPr>
          </a:p>
          <a:p>
            <a:pPr indent="-342900" lvl="0" marL="457200" rtl="0" algn="l">
              <a:spcBef>
                <a:spcPts val="0"/>
              </a:spcBef>
              <a:spcAft>
                <a:spcPts val="0"/>
              </a:spcAft>
              <a:buClr>
                <a:schemeClr val="dk1"/>
              </a:buClr>
              <a:buSzPts val="1800"/>
              <a:buFont typeface="Lexend"/>
              <a:buChar char="●"/>
            </a:pPr>
            <a:r>
              <a:rPr lang="en">
                <a:solidFill>
                  <a:schemeClr val="dk1"/>
                </a:solidFill>
                <a:latin typeface="Lexend"/>
                <a:ea typeface="Lexend"/>
                <a:cs typeface="Lexend"/>
                <a:sym typeface="Lexend"/>
              </a:rPr>
              <a:t>The ability for it to learn is what makes a system artificially intelligent- there are algorithms called heuristic algorithms which can act like AI and find the best viable solution for certain problems, but they are not AI.</a:t>
            </a:r>
            <a:endParaRPr>
              <a:solidFill>
                <a:schemeClr val="dk1"/>
              </a:solidFill>
              <a:latin typeface="Lexend"/>
              <a:ea typeface="Lexend"/>
              <a:cs typeface="Lexend"/>
              <a:sym typeface="Lexen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pic>
        <p:nvPicPr>
          <p:cNvPr descr="Ray Sulewski describes AI mathematical models and how they can predict future behavior with a shout-out to Sir Issac Newton. Check out all our AI resources at: http://bit.ly/2XCsbrz" id="95" name="Google Shape;95;p20" title="What is an AI Model?">
            <a:hlinkClick r:id="rId3"/>
          </p:cNvPr>
          <p:cNvPicPr preferRelativeResize="0"/>
          <p:nvPr/>
        </p:nvPicPr>
        <p:blipFill>
          <a:blip r:embed="rId4">
            <a:alphaModFix/>
          </a:blip>
          <a:stretch>
            <a:fillRect/>
          </a:stretch>
        </p:blipFill>
        <p:spPr>
          <a:xfrm>
            <a:off x="995913" y="560200"/>
            <a:ext cx="7152175" cy="4023100"/>
          </a:xfrm>
          <a:prstGeom prst="rect">
            <a:avLst/>
          </a:prstGeom>
          <a:noFill/>
          <a:ln cap="flat" cmpd="sng" w="114300">
            <a:solidFill>
              <a:srgbClr val="4A86E8"/>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
                                        </p:tgtEl>
                                        <p:attrNameLst>
                                          <p:attrName>style.visibility</p:attrName>
                                        </p:attrNameLst>
                                      </p:cBhvr>
                                      <p:to>
                                        <p:strVal val="visible"/>
                                      </p:to>
                                    </p:set>
                                    <p:animEffect filter="fade" transition="in">
                                      <p:cBhvr>
                                        <p:cTn dur="1000"/>
                                        <p:tgtEl>
                                          <p:spTgt spid="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exend"/>
                <a:ea typeface="Lexend"/>
                <a:cs typeface="Lexend"/>
                <a:sym typeface="Lexend"/>
              </a:rPr>
              <a:t>Buzzword Breakdown</a:t>
            </a:r>
            <a:endParaRPr>
              <a:latin typeface="Lexend"/>
              <a:ea typeface="Lexend"/>
              <a:cs typeface="Lexend"/>
              <a:sym typeface="Lexend"/>
            </a:endParaRPr>
          </a:p>
        </p:txBody>
      </p:sp>
      <p:sp>
        <p:nvSpPr>
          <p:cNvPr id="101" name="Google Shape;101;p21"/>
          <p:cNvSpPr txBox="1"/>
          <p:nvPr>
            <p:ph idx="1" type="body"/>
          </p:nvPr>
        </p:nvSpPr>
        <p:spPr>
          <a:xfrm>
            <a:off x="311700" y="900725"/>
            <a:ext cx="8520600" cy="4182900"/>
          </a:xfrm>
          <a:prstGeom prst="rect">
            <a:avLst/>
          </a:prstGeom>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Font typeface="Lexend"/>
              <a:buChar char="●"/>
            </a:pPr>
            <a:r>
              <a:rPr lang="en" sz="1600">
                <a:solidFill>
                  <a:schemeClr val="dk1"/>
                </a:solidFill>
                <a:latin typeface="Lexend"/>
                <a:ea typeface="Lexend"/>
                <a:cs typeface="Lexend"/>
                <a:sym typeface="Lexend"/>
              </a:rPr>
              <a:t>Artificial Intelligence, Machine Learning, Deep Learning, and Big Data all refer to different things, though there are some relations.</a:t>
            </a:r>
            <a:endParaRPr sz="1600">
              <a:solidFill>
                <a:schemeClr val="dk1"/>
              </a:solidFill>
              <a:latin typeface="Lexend"/>
              <a:ea typeface="Lexend"/>
              <a:cs typeface="Lexend"/>
              <a:sym typeface="Lexend"/>
            </a:endParaRPr>
          </a:p>
          <a:p>
            <a:pPr indent="-330200" lvl="0" marL="457200" rtl="0" algn="l">
              <a:spcBef>
                <a:spcPts val="0"/>
              </a:spcBef>
              <a:spcAft>
                <a:spcPts val="0"/>
              </a:spcAft>
              <a:buClr>
                <a:schemeClr val="dk1"/>
              </a:buClr>
              <a:buSzPts val="1600"/>
              <a:buFont typeface="Lexend"/>
              <a:buChar char="●"/>
            </a:pPr>
            <a:r>
              <a:rPr lang="en" sz="1600">
                <a:solidFill>
                  <a:schemeClr val="dk1"/>
                </a:solidFill>
                <a:latin typeface="Lexend"/>
                <a:ea typeface="Lexend"/>
                <a:cs typeface="Lexend"/>
                <a:sym typeface="Lexend"/>
              </a:rPr>
              <a:t>Artificial Intelligence is the general concept of a machine trained to think on its own, which contains the field of</a:t>
            </a:r>
            <a:endParaRPr sz="1600">
              <a:solidFill>
                <a:schemeClr val="dk1"/>
              </a:solidFill>
              <a:latin typeface="Lexend"/>
              <a:ea typeface="Lexend"/>
              <a:cs typeface="Lexend"/>
              <a:sym typeface="Lexend"/>
            </a:endParaRPr>
          </a:p>
          <a:p>
            <a:pPr indent="-330200" lvl="1" marL="914400" rtl="0" algn="l">
              <a:spcBef>
                <a:spcPts val="0"/>
              </a:spcBef>
              <a:spcAft>
                <a:spcPts val="0"/>
              </a:spcAft>
              <a:buClr>
                <a:schemeClr val="dk1"/>
              </a:buClr>
              <a:buSzPts val="1600"/>
              <a:buFont typeface="Lexend"/>
              <a:buChar char="○"/>
            </a:pPr>
            <a:r>
              <a:rPr lang="en" sz="1600">
                <a:solidFill>
                  <a:schemeClr val="dk1"/>
                </a:solidFill>
                <a:latin typeface="Lexend"/>
                <a:ea typeface="Lexend"/>
                <a:cs typeface="Lexend"/>
                <a:sym typeface="Lexend"/>
              </a:rPr>
              <a:t>Machine Learning, the actual process of how machines can learn new information and use it to adapt. One method of Machine Learning is</a:t>
            </a:r>
            <a:endParaRPr sz="1600">
              <a:solidFill>
                <a:schemeClr val="dk1"/>
              </a:solidFill>
              <a:latin typeface="Lexend"/>
              <a:ea typeface="Lexend"/>
              <a:cs typeface="Lexend"/>
              <a:sym typeface="Lexend"/>
            </a:endParaRPr>
          </a:p>
          <a:p>
            <a:pPr indent="-330200" lvl="2" marL="1371600" rtl="0" algn="l">
              <a:spcBef>
                <a:spcPts val="0"/>
              </a:spcBef>
              <a:spcAft>
                <a:spcPts val="0"/>
              </a:spcAft>
              <a:buClr>
                <a:schemeClr val="dk1"/>
              </a:buClr>
              <a:buSzPts val="1600"/>
              <a:buFont typeface="Lexend"/>
              <a:buChar char="■"/>
            </a:pPr>
            <a:r>
              <a:rPr lang="en" sz="1600">
                <a:solidFill>
                  <a:schemeClr val="dk1"/>
                </a:solidFill>
                <a:latin typeface="Lexend"/>
                <a:ea typeface="Lexend"/>
                <a:cs typeface="Lexend"/>
                <a:sym typeface="Lexend"/>
              </a:rPr>
              <a:t>Deep Learning, which is the process of training a system that mimics organic intelligence in order to understand patterns in data. These systems use building blocks called neurons for their architecture- neurons are programming objects that can store variables and apply a function onto the data passed to it, meant to mimic neurons in actual brains.</a:t>
            </a:r>
            <a:endParaRPr sz="1600">
              <a:solidFill>
                <a:schemeClr val="dk1"/>
              </a:solidFill>
              <a:latin typeface="Lexend"/>
              <a:ea typeface="Lexend"/>
              <a:cs typeface="Lexend"/>
              <a:sym typeface="Lexend"/>
            </a:endParaRPr>
          </a:p>
          <a:p>
            <a:pPr indent="-330200" lvl="0" marL="457200" rtl="0" algn="l">
              <a:spcBef>
                <a:spcPts val="0"/>
              </a:spcBef>
              <a:spcAft>
                <a:spcPts val="0"/>
              </a:spcAft>
              <a:buClr>
                <a:schemeClr val="dk1"/>
              </a:buClr>
              <a:buSzPts val="1600"/>
              <a:buFont typeface="Lexend"/>
              <a:buChar char="●"/>
            </a:pPr>
            <a:r>
              <a:rPr lang="en" sz="1600">
                <a:solidFill>
                  <a:schemeClr val="dk1"/>
                </a:solidFill>
                <a:latin typeface="Lexend"/>
                <a:ea typeface="Lexend"/>
                <a:cs typeface="Lexend"/>
                <a:sym typeface="Lexend"/>
              </a:rPr>
              <a:t>Big Data is the concept of using very large datasets for machine learning tasks.</a:t>
            </a:r>
            <a:endParaRPr sz="1600">
              <a:solidFill>
                <a:schemeClr val="dk1"/>
              </a:solidFill>
              <a:latin typeface="Lexend"/>
              <a:ea typeface="Lexend"/>
              <a:cs typeface="Lexend"/>
              <a:sym typeface="Lexen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exend"/>
                <a:ea typeface="Lexend"/>
                <a:cs typeface="Lexend"/>
                <a:sym typeface="Lexend"/>
              </a:rPr>
              <a:t>Key Branches of AI Development </a:t>
            </a:r>
            <a:endParaRPr>
              <a:latin typeface="Lexend"/>
              <a:ea typeface="Lexend"/>
              <a:cs typeface="Lexend"/>
              <a:sym typeface="Lexend"/>
            </a:endParaRPr>
          </a:p>
        </p:txBody>
      </p:sp>
      <p:sp>
        <p:nvSpPr>
          <p:cNvPr id="107" name="Google Shape;107;p22"/>
          <p:cNvSpPr txBox="1"/>
          <p:nvPr>
            <p:ph idx="1" type="body"/>
          </p:nvPr>
        </p:nvSpPr>
        <p:spPr>
          <a:xfrm>
            <a:off x="311700" y="1152475"/>
            <a:ext cx="8520600" cy="3883200"/>
          </a:xfrm>
          <a:prstGeom prst="rect">
            <a:avLst/>
          </a:prstGeom>
          <a:ln>
            <a:noFill/>
          </a:ln>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Lexend"/>
              <a:buChar char="●"/>
            </a:pPr>
            <a:r>
              <a:rPr lang="en">
                <a:solidFill>
                  <a:schemeClr val="dk1"/>
                </a:solidFill>
                <a:latin typeface="Lexend"/>
                <a:ea typeface="Lexend"/>
                <a:cs typeface="Lexend"/>
                <a:sym typeface="Lexend"/>
              </a:rPr>
              <a:t>Computer Vision</a:t>
            </a:r>
            <a:endParaRPr>
              <a:solidFill>
                <a:schemeClr val="dk1"/>
              </a:solidFill>
              <a:latin typeface="Lexend"/>
              <a:ea typeface="Lexend"/>
              <a:cs typeface="Lexend"/>
              <a:sym typeface="Lexend"/>
            </a:endParaRPr>
          </a:p>
          <a:p>
            <a:pPr indent="-317500" lvl="1" marL="914400" rtl="0" algn="l">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Relates to training computers to recognizing patterns in images and videos.</a:t>
            </a:r>
            <a:endParaRPr>
              <a:solidFill>
                <a:schemeClr val="dk1"/>
              </a:solidFill>
              <a:latin typeface="Lexend"/>
              <a:ea typeface="Lexend"/>
              <a:cs typeface="Lexend"/>
              <a:sym typeface="Lexend"/>
            </a:endParaRPr>
          </a:p>
          <a:p>
            <a:pPr indent="-342900" lvl="0" marL="457200" rtl="0" algn="l">
              <a:spcBef>
                <a:spcPts val="0"/>
              </a:spcBef>
              <a:spcAft>
                <a:spcPts val="0"/>
              </a:spcAft>
              <a:buClr>
                <a:schemeClr val="dk1"/>
              </a:buClr>
              <a:buSzPts val="1800"/>
              <a:buFont typeface="Lexend"/>
              <a:buChar char="●"/>
            </a:pPr>
            <a:r>
              <a:rPr lang="en">
                <a:solidFill>
                  <a:schemeClr val="dk1"/>
                </a:solidFill>
                <a:latin typeface="Lexend"/>
                <a:ea typeface="Lexend"/>
                <a:cs typeface="Lexend"/>
                <a:sym typeface="Lexend"/>
              </a:rPr>
              <a:t>Natural Language Processing</a:t>
            </a:r>
            <a:endParaRPr>
              <a:solidFill>
                <a:schemeClr val="dk1"/>
              </a:solidFill>
              <a:latin typeface="Lexend"/>
              <a:ea typeface="Lexend"/>
              <a:cs typeface="Lexend"/>
              <a:sym typeface="Lexend"/>
            </a:endParaRPr>
          </a:p>
          <a:p>
            <a:pPr indent="-317500" lvl="1" marL="914400" rtl="0" algn="l">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Understanding the underlying rules of a language in a way computers can use to solve problems.</a:t>
            </a:r>
            <a:endParaRPr>
              <a:solidFill>
                <a:schemeClr val="dk1"/>
              </a:solidFill>
              <a:latin typeface="Lexend"/>
              <a:ea typeface="Lexend"/>
              <a:cs typeface="Lexend"/>
              <a:sym typeface="Lexend"/>
            </a:endParaRPr>
          </a:p>
          <a:p>
            <a:pPr indent="-342900" lvl="0" marL="457200" rtl="0" algn="l">
              <a:spcBef>
                <a:spcPts val="0"/>
              </a:spcBef>
              <a:spcAft>
                <a:spcPts val="0"/>
              </a:spcAft>
              <a:buClr>
                <a:schemeClr val="dk1"/>
              </a:buClr>
              <a:buSzPts val="1800"/>
              <a:buFont typeface="Lexend"/>
              <a:buChar char="●"/>
            </a:pPr>
            <a:r>
              <a:rPr lang="en">
                <a:solidFill>
                  <a:schemeClr val="dk1"/>
                </a:solidFill>
                <a:latin typeface="Lexend"/>
                <a:ea typeface="Lexend"/>
                <a:cs typeface="Lexend"/>
                <a:sym typeface="Lexend"/>
              </a:rPr>
              <a:t>Robotics</a:t>
            </a:r>
            <a:endParaRPr>
              <a:solidFill>
                <a:schemeClr val="dk1"/>
              </a:solidFill>
              <a:latin typeface="Lexend"/>
              <a:ea typeface="Lexend"/>
              <a:cs typeface="Lexend"/>
              <a:sym typeface="Lexend"/>
            </a:endParaRPr>
          </a:p>
          <a:p>
            <a:pPr indent="-317500" lvl="1" marL="914400" rtl="0" algn="l">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Teaching a system to use engineering-based systems such as sensors and motors in order to interact with an environment and complete certain actions.</a:t>
            </a:r>
            <a:endParaRPr>
              <a:solidFill>
                <a:schemeClr val="dk1"/>
              </a:solidFill>
              <a:latin typeface="Lexend"/>
              <a:ea typeface="Lexend"/>
              <a:cs typeface="Lexend"/>
              <a:sym typeface="Lexend"/>
            </a:endParaRPr>
          </a:p>
          <a:p>
            <a:pPr indent="-342900" lvl="0" marL="457200" rtl="0" algn="l">
              <a:spcBef>
                <a:spcPts val="0"/>
              </a:spcBef>
              <a:spcAft>
                <a:spcPts val="0"/>
              </a:spcAft>
              <a:buClr>
                <a:schemeClr val="dk1"/>
              </a:buClr>
              <a:buSzPts val="1800"/>
              <a:buFont typeface="Lexend"/>
              <a:buChar char="●"/>
            </a:pPr>
            <a:r>
              <a:rPr lang="en">
                <a:solidFill>
                  <a:schemeClr val="dk1"/>
                </a:solidFill>
                <a:latin typeface="Lexend"/>
                <a:ea typeface="Lexend"/>
                <a:cs typeface="Lexend"/>
                <a:sym typeface="Lexend"/>
              </a:rPr>
              <a:t>Predictive Analytics</a:t>
            </a:r>
            <a:endParaRPr>
              <a:solidFill>
                <a:schemeClr val="dk1"/>
              </a:solidFill>
              <a:latin typeface="Lexend"/>
              <a:ea typeface="Lexend"/>
              <a:cs typeface="Lexend"/>
              <a:sym typeface="Lexend"/>
            </a:endParaRPr>
          </a:p>
          <a:p>
            <a:pPr indent="-317500" lvl="1" marL="914400" rtl="0" algn="l">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A system that studies datasets in order to predict the next values, such as weather models and market data.</a:t>
            </a:r>
            <a:endParaRPr>
              <a:solidFill>
                <a:schemeClr val="dk1"/>
              </a:solidFill>
              <a:latin typeface="Lexend"/>
              <a:ea typeface="Lexend"/>
              <a:cs typeface="Lexend"/>
              <a:sym typeface="Lexen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exend"/>
                <a:ea typeface="Lexend"/>
                <a:cs typeface="Lexend"/>
                <a:sym typeface="Lexend"/>
              </a:rPr>
              <a:t>Debrief and Next Steps</a:t>
            </a:r>
            <a:endParaRPr>
              <a:latin typeface="Lexend"/>
              <a:ea typeface="Lexend"/>
              <a:cs typeface="Lexend"/>
              <a:sym typeface="Lexend"/>
            </a:endParaRPr>
          </a:p>
        </p:txBody>
      </p:sp>
      <p:sp>
        <p:nvSpPr>
          <p:cNvPr id="113" name="Google Shape;113;p23"/>
          <p:cNvSpPr txBox="1"/>
          <p:nvPr>
            <p:ph idx="1" type="body"/>
          </p:nvPr>
        </p:nvSpPr>
        <p:spPr>
          <a:xfrm>
            <a:off x="311700" y="1152475"/>
            <a:ext cx="8520600" cy="3416400"/>
          </a:xfrm>
          <a:prstGeom prst="rect">
            <a:avLst/>
          </a:prstGeom>
          <a:ln>
            <a:noFill/>
          </a:ln>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Lexend"/>
              <a:buChar char="●"/>
            </a:pPr>
            <a:r>
              <a:rPr lang="en">
                <a:solidFill>
                  <a:schemeClr val="dk1"/>
                </a:solidFill>
                <a:latin typeface="Lexend"/>
                <a:ea typeface="Lexend"/>
                <a:cs typeface="Lexend"/>
                <a:sym typeface="Lexend"/>
              </a:rPr>
              <a:t>Artificial Intelligence allows for a system to think on its own without human interference</a:t>
            </a:r>
            <a:endParaRPr>
              <a:solidFill>
                <a:schemeClr val="dk1"/>
              </a:solidFill>
              <a:latin typeface="Lexend"/>
              <a:ea typeface="Lexend"/>
              <a:cs typeface="Lexend"/>
              <a:sym typeface="Lexend"/>
            </a:endParaRPr>
          </a:p>
          <a:p>
            <a:pPr indent="-342900" lvl="0" marL="457200" rtl="0" algn="l">
              <a:spcBef>
                <a:spcPts val="0"/>
              </a:spcBef>
              <a:spcAft>
                <a:spcPts val="0"/>
              </a:spcAft>
              <a:buClr>
                <a:schemeClr val="dk1"/>
              </a:buClr>
              <a:buSzPts val="1800"/>
              <a:buFont typeface="Lexend"/>
              <a:buChar char="●"/>
            </a:pPr>
            <a:r>
              <a:rPr lang="en">
                <a:solidFill>
                  <a:schemeClr val="dk1"/>
                </a:solidFill>
                <a:latin typeface="Lexend"/>
                <a:ea typeface="Lexend"/>
                <a:cs typeface="Lexend"/>
                <a:sym typeface="Lexend"/>
              </a:rPr>
              <a:t>Machine Learning is the process of retaining information learned in order to </a:t>
            </a:r>
            <a:r>
              <a:rPr lang="en">
                <a:solidFill>
                  <a:schemeClr val="dk1"/>
                </a:solidFill>
                <a:latin typeface="Lexend"/>
                <a:ea typeface="Lexend"/>
                <a:cs typeface="Lexend"/>
                <a:sym typeface="Lexend"/>
              </a:rPr>
              <a:t>improve</a:t>
            </a:r>
            <a:r>
              <a:rPr lang="en">
                <a:solidFill>
                  <a:schemeClr val="dk1"/>
                </a:solidFill>
                <a:latin typeface="Lexend"/>
                <a:ea typeface="Lexend"/>
                <a:cs typeface="Lexend"/>
                <a:sym typeface="Lexend"/>
              </a:rPr>
              <a:t> the system.</a:t>
            </a:r>
            <a:endParaRPr>
              <a:solidFill>
                <a:schemeClr val="dk1"/>
              </a:solidFill>
              <a:latin typeface="Lexend"/>
              <a:ea typeface="Lexend"/>
              <a:cs typeface="Lexend"/>
              <a:sym typeface="Lexend"/>
            </a:endParaRPr>
          </a:p>
          <a:p>
            <a:pPr indent="-342900" lvl="0" marL="457200" rtl="0" algn="l">
              <a:spcBef>
                <a:spcPts val="0"/>
              </a:spcBef>
              <a:spcAft>
                <a:spcPts val="0"/>
              </a:spcAft>
              <a:buClr>
                <a:schemeClr val="dk1"/>
              </a:buClr>
              <a:buSzPts val="1800"/>
              <a:buFont typeface="Lexend"/>
              <a:buChar char="●"/>
            </a:pPr>
            <a:r>
              <a:rPr lang="en">
                <a:solidFill>
                  <a:schemeClr val="dk1"/>
                </a:solidFill>
                <a:latin typeface="Lexend"/>
                <a:ea typeface="Lexend"/>
                <a:cs typeface="Lexend"/>
                <a:sym typeface="Lexend"/>
              </a:rPr>
              <a:t>AI can be used in many fields, such as natural language processing, computer vision, data prediction, and social computing.</a:t>
            </a:r>
            <a:endParaRPr>
              <a:solidFill>
                <a:schemeClr val="dk1"/>
              </a:solidFill>
              <a:latin typeface="Lexend"/>
              <a:ea typeface="Lexend"/>
              <a:cs typeface="Lexend"/>
              <a:sym typeface="Lexend"/>
            </a:endParaRPr>
          </a:p>
          <a:p>
            <a:pPr indent="-342900" lvl="0" marL="457200" rtl="0" algn="l">
              <a:spcBef>
                <a:spcPts val="0"/>
              </a:spcBef>
              <a:spcAft>
                <a:spcPts val="0"/>
              </a:spcAft>
              <a:buClr>
                <a:schemeClr val="dk1"/>
              </a:buClr>
              <a:buSzPts val="1800"/>
              <a:buFont typeface="Lexend"/>
              <a:buChar char="●"/>
            </a:pPr>
            <a:r>
              <a:rPr lang="en">
                <a:solidFill>
                  <a:schemeClr val="dk1"/>
                </a:solidFill>
                <a:latin typeface="Lexend"/>
                <a:ea typeface="Lexend"/>
                <a:cs typeface="Lexend"/>
                <a:sym typeface="Lexend"/>
              </a:rPr>
              <a:t>We will take a further dive into Machine Learning so we can understand just how machines can learn from their mistakes and improve.</a:t>
            </a:r>
            <a:endParaRPr>
              <a:solidFill>
                <a:schemeClr val="dk1"/>
              </a:solidFill>
              <a:latin typeface="Lexend"/>
              <a:ea typeface="Lexend"/>
              <a:cs typeface="Lexend"/>
              <a:sym typeface="Lexen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